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Space Mono" charset="1" panose="02000509040000020004"/>
      <p:regular r:id="rId21"/>
    </p:embeddedFont>
    <p:embeddedFont>
      <p:font typeface="Space Mono Bold" charset="1" panose="0200080903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54963" y="1490301"/>
            <a:ext cx="8529809" cy="4109276"/>
            <a:chOff x="0" y="0"/>
            <a:chExt cx="11373079" cy="54790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73085" cy="5479030"/>
            </a:xfrm>
            <a:custGeom>
              <a:avLst/>
              <a:gdLst/>
              <a:ahLst/>
              <a:cxnLst/>
              <a:rect r="r" b="b" t="t" l="l"/>
              <a:pathLst>
                <a:path h="5479030" w="11373085">
                  <a:moveTo>
                    <a:pt x="0" y="0"/>
                  </a:moveTo>
                  <a:lnTo>
                    <a:pt x="11373085" y="0"/>
                  </a:lnTo>
                  <a:lnTo>
                    <a:pt x="11373085" y="5479030"/>
                  </a:lnTo>
                  <a:lnTo>
                    <a:pt x="0" y="5479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10" t="0" r="-1181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1373079" cy="547903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590"/>
                </a:lnSpc>
              </a:pPr>
              <a:r>
                <a:rPr lang="en-US" sz="7992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Scripts for Hack5 tools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2652979" y="152362"/>
            <a:ext cx="14134614" cy="9993297"/>
            <a:chOff x="0" y="0"/>
            <a:chExt cx="18846152" cy="133243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846164" cy="13324460"/>
            </a:xfrm>
            <a:custGeom>
              <a:avLst/>
              <a:gdLst/>
              <a:ahLst/>
              <a:cxnLst/>
              <a:rect r="r" b="b" t="t" l="l"/>
              <a:pathLst>
                <a:path h="13324460" w="18846164">
                  <a:moveTo>
                    <a:pt x="0" y="0"/>
                  </a:moveTo>
                  <a:lnTo>
                    <a:pt x="18846164" y="0"/>
                  </a:lnTo>
                  <a:lnTo>
                    <a:pt x="18846164" y="13324460"/>
                  </a:lnTo>
                  <a:lnTo>
                    <a:pt x="0" y="13324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" r="0" b="-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554718" y="1721685"/>
            <a:ext cx="17060932" cy="4109272"/>
            <a:chOff x="0" y="0"/>
            <a:chExt cx="22747910" cy="54790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747912" cy="5479026"/>
            </a:xfrm>
            <a:custGeom>
              <a:avLst/>
              <a:gdLst/>
              <a:ahLst/>
              <a:cxnLst/>
              <a:rect r="r" b="b" t="t" l="l"/>
              <a:pathLst>
                <a:path h="5479026" w="22747912">
                  <a:moveTo>
                    <a:pt x="0" y="0"/>
                  </a:moveTo>
                  <a:lnTo>
                    <a:pt x="22747912" y="0"/>
                  </a:lnTo>
                  <a:lnTo>
                    <a:pt x="22747912" y="5479026"/>
                  </a:lnTo>
                  <a:lnTo>
                    <a:pt x="0" y="54790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98" r="0" b="-3089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2747910" cy="547903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590"/>
                </a:lnSpc>
              </a:pPr>
              <a:r>
                <a:rPr lang="en-US" sz="7992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Screen Crab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1028700"/>
            <a:ext cx="7876936" cy="7876936"/>
          </a:xfrm>
          <a:custGeom>
            <a:avLst/>
            <a:gdLst/>
            <a:ahLst/>
            <a:cxnLst/>
            <a:rect r="r" b="b" t="t" l="l"/>
            <a:pathLst>
              <a:path h="7876936" w="7876936">
                <a:moveTo>
                  <a:pt x="0" y="0"/>
                </a:moveTo>
                <a:lnTo>
                  <a:pt x="7876936" y="0"/>
                </a:lnTo>
                <a:lnTo>
                  <a:pt x="7876936" y="7876936"/>
                </a:lnTo>
                <a:lnTo>
                  <a:pt x="0" y="787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46158" y="5997600"/>
            <a:ext cx="1687805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5"/>
              </a:lnSpc>
            </a:pPr>
            <a:r>
              <a:rPr lang="en-US" sz="4196">
                <a:solidFill>
                  <a:srgbClr val="ADADAD"/>
                </a:solidFill>
                <a:latin typeface="Space Mono"/>
                <a:ea typeface="Space Mono"/>
                <a:cs typeface="Space Mono"/>
                <a:sym typeface="Space Mono"/>
              </a:rPr>
              <a:t>Presented by Miłosz Obrębski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922127" y="6989476"/>
            <a:ext cx="2979301" cy="2979301"/>
          </a:xfrm>
          <a:custGeom>
            <a:avLst/>
            <a:gdLst/>
            <a:ahLst/>
            <a:cxnLst/>
            <a:rect r="r" b="b" t="t" l="l"/>
            <a:pathLst>
              <a:path h="2979301" w="2979301">
                <a:moveTo>
                  <a:pt x="0" y="0"/>
                </a:moveTo>
                <a:lnTo>
                  <a:pt x="2979301" y="0"/>
                </a:lnTo>
                <a:lnTo>
                  <a:pt x="2979301" y="2979301"/>
                </a:lnTo>
                <a:lnTo>
                  <a:pt x="0" y="2979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55400" y="6826529"/>
            <a:ext cx="2619716" cy="2272009"/>
          </a:xfrm>
          <a:custGeom>
            <a:avLst/>
            <a:gdLst/>
            <a:ahLst/>
            <a:cxnLst/>
            <a:rect r="r" b="b" t="t" l="l"/>
            <a:pathLst>
              <a:path h="2272009" w="2619716">
                <a:moveTo>
                  <a:pt x="0" y="0"/>
                </a:moveTo>
                <a:lnTo>
                  <a:pt x="2619717" y="0"/>
                </a:lnTo>
                <a:lnTo>
                  <a:pt x="2619717" y="2272008"/>
                </a:lnTo>
                <a:lnTo>
                  <a:pt x="0" y="2272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3514" y="6989476"/>
            <a:ext cx="3129585" cy="2116382"/>
          </a:xfrm>
          <a:custGeom>
            <a:avLst/>
            <a:gdLst/>
            <a:ahLst/>
            <a:cxnLst/>
            <a:rect r="r" b="b" t="t" l="l"/>
            <a:pathLst>
              <a:path h="2116382" w="3129585">
                <a:moveTo>
                  <a:pt x="0" y="0"/>
                </a:moveTo>
                <a:lnTo>
                  <a:pt x="3129586" y="0"/>
                </a:lnTo>
                <a:lnTo>
                  <a:pt x="3129586" y="2116382"/>
                </a:lnTo>
                <a:lnTo>
                  <a:pt x="0" y="21163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374156">
            <a:off x="5529076" y="7710725"/>
            <a:ext cx="1964084" cy="2064740"/>
          </a:xfrm>
          <a:custGeom>
            <a:avLst/>
            <a:gdLst/>
            <a:ahLst/>
            <a:cxnLst/>
            <a:rect r="r" b="b" t="t" l="l"/>
            <a:pathLst>
              <a:path h="2064740" w="1964084">
                <a:moveTo>
                  <a:pt x="0" y="0"/>
                </a:moveTo>
                <a:lnTo>
                  <a:pt x="1964084" y="0"/>
                </a:lnTo>
                <a:lnTo>
                  <a:pt x="1964084" y="2064740"/>
                </a:lnTo>
                <a:lnTo>
                  <a:pt x="0" y="20647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15289" y="1581741"/>
            <a:ext cx="16878052" cy="514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5"/>
              </a:lnSpc>
            </a:pPr>
            <a:r>
              <a:rPr lang="en-US" sz="3796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Screen</a:t>
            </a:r>
            <a:r>
              <a:rPr lang="en-US" sz="3796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Crab</a:t>
            </a:r>
            <a:r>
              <a:rPr lang="en-US" sz="37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is a hacking tool developed by Hak5. Designed to appear as a harmless video adapter or dongle. It functions as an man-in-the-middle video proxy.</a:t>
            </a:r>
          </a:p>
          <a:p>
            <a:pPr algn="l">
              <a:lnSpc>
                <a:spcPts val="4555"/>
              </a:lnSpc>
            </a:pPr>
            <a:r>
              <a:rPr lang="en-US" sz="37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The device sits between the source device and the monitor, it allows for screen capture recording, remote live streaming of visual data over Wi-Fi, and spying on a target's on-screen activity without triggering any operating system alerts.</a:t>
            </a:r>
          </a:p>
          <a:p>
            <a:pPr algn="l">
              <a:lnSpc>
                <a:spcPts val="4555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2374156">
            <a:off x="11512837" y="7510484"/>
            <a:ext cx="1964084" cy="2064740"/>
          </a:xfrm>
          <a:custGeom>
            <a:avLst/>
            <a:gdLst/>
            <a:ahLst/>
            <a:cxnLst/>
            <a:rect r="r" b="b" t="t" l="l"/>
            <a:pathLst>
              <a:path h="2064740" w="1964084">
                <a:moveTo>
                  <a:pt x="0" y="0"/>
                </a:moveTo>
                <a:lnTo>
                  <a:pt x="1964084" y="0"/>
                </a:lnTo>
                <a:lnTo>
                  <a:pt x="1964084" y="2064741"/>
                </a:lnTo>
                <a:lnTo>
                  <a:pt x="0" y="20647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>
            <a:off x="5096475" y="6704585"/>
            <a:ext cx="8655032" cy="1343082"/>
          </a:xfrm>
          <a:custGeom>
            <a:avLst/>
            <a:gdLst/>
            <a:ahLst/>
            <a:cxnLst/>
            <a:rect r="r" b="b" t="t" l="l"/>
            <a:pathLst>
              <a:path h="1343082" w="8655032">
                <a:moveTo>
                  <a:pt x="0" y="1343082"/>
                </a:moveTo>
                <a:quadBezTo>
                  <a:pt x="4049506" y="-1126293"/>
                  <a:pt x="8655032" y="944498"/>
                </a:quadBezTo>
              </a:path>
            </a:pathLst>
          </a:cu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3" id="13"/>
          <p:cNvSpPr txBox="true"/>
          <p:nvPr/>
        </p:nvSpPr>
        <p:spPr>
          <a:xfrm rot="0">
            <a:off x="7384750" y="6979951"/>
            <a:ext cx="4054056" cy="50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1"/>
              </a:lnSpc>
              <a:spcBef>
                <a:spcPct val="0"/>
              </a:spcBef>
            </a:pPr>
            <a:r>
              <a:rPr lang="en-US" sz="325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What the PC sees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24946" y="9248775"/>
            <a:ext cx="1773663" cy="50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1"/>
              </a:lnSpc>
              <a:spcBef>
                <a:spcPct val="0"/>
              </a:spcBef>
            </a:pPr>
            <a:r>
              <a:rPr lang="en-US" sz="325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Reality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38130" y="7312191"/>
            <a:ext cx="3547295" cy="50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1"/>
              </a:lnSpc>
              <a:spcBef>
                <a:spcPct val="0"/>
              </a:spcBef>
            </a:pPr>
            <a:r>
              <a:rPr lang="en-US" sz="3259">
                <a:solidFill>
                  <a:srgbClr val="ADADAD"/>
                </a:solidFill>
                <a:latin typeface="Space Mono"/>
                <a:ea typeface="Space Mono"/>
                <a:cs typeface="Space Mono"/>
                <a:sym typeface="Space Mono"/>
              </a:rPr>
              <a:t>Normal monitor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44891" y="9613319"/>
            <a:ext cx="2533773" cy="50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1"/>
              </a:lnSpc>
              <a:spcBef>
                <a:spcPct val="0"/>
              </a:spcBef>
            </a:pPr>
            <a:r>
              <a:rPr lang="en-US" sz="3259">
                <a:solidFill>
                  <a:srgbClr val="ADADAD"/>
                </a:solidFill>
                <a:latin typeface="Space Mono"/>
                <a:ea typeface="Space Mono"/>
                <a:cs typeface="Space Mono"/>
                <a:sym typeface="Space Mono"/>
              </a:rPr>
              <a:t>Evil proxy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15289" y="1581741"/>
            <a:ext cx="16878052" cy="628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5"/>
              </a:lnSpc>
            </a:pPr>
            <a:r>
              <a:rPr lang="en-US" sz="37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Use cases:</a:t>
            </a:r>
          </a:p>
          <a:p>
            <a:pPr algn="l">
              <a:lnSpc>
                <a:spcPts val="4555"/>
              </a:lnSpc>
            </a:pPr>
          </a:p>
          <a:p>
            <a:pPr algn="l">
              <a:lnSpc>
                <a:spcPts val="4555"/>
              </a:lnSpc>
            </a:pPr>
            <a:r>
              <a:rPr lang="en-US" sz="37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- Remote grabbing of sensitive data</a:t>
            </a:r>
          </a:p>
          <a:p>
            <a:pPr algn="l">
              <a:lnSpc>
                <a:spcPts val="4555"/>
              </a:lnSpc>
            </a:pPr>
          </a:p>
          <a:p>
            <a:pPr algn="l">
              <a:lnSpc>
                <a:spcPts val="4555"/>
              </a:lnSpc>
            </a:pPr>
            <a:r>
              <a:rPr lang="en-US" sz="37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- Remote control when paired with for example Key Croc</a:t>
            </a:r>
          </a:p>
          <a:p>
            <a:pPr algn="l">
              <a:lnSpc>
                <a:spcPts val="4555"/>
              </a:lnSpc>
            </a:pPr>
          </a:p>
          <a:p>
            <a:pPr algn="l">
              <a:lnSpc>
                <a:spcPts val="4555"/>
              </a:lnSpc>
            </a:pPr>
            <a:r>
              <a:rPr lang="en-US" sz="37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- Recording videos</a:t>
            </a:r>
          </a:p>
          <a:p>
            <a:pPr algn="l">
              <a:lnSpc>
                <a:spcPts val="4555"/>
              </a:lnSpc>
            </a:pPr>
          </a:p>
          <a:p>
            <a:pPr algn="l">
              <a:lnSpc>
                <a:spcPts val="4555"/>
              </a:lnSpc>
            </a:pPr>
            <a:r>
              <a:rPr lang="en-US" sz="37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Author of this presentation is not responsible for any non educational use cases, only use the device within the law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23849" y="1490301"/>
            <a:ext cx="17060932" cy="4109272"/>
            <a:chOff x="0" y="0"/>
            <a:chExt cx="22747910" cy="54790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747912" cy="5479026"/>
            </a:xfrm>
            <a:custGeom>
              <a:avLst/>
              <a:gdLst/>
              <a:ahLst/>
              <a:cxnLst/>
              <a:rect r="r" b="b" t="t" l="l"/>
              <a:pathLst>
                <a:path h="5479026" w="22747912">
                  <a:moveTo>
                    <a:pt x="0" y="0"/>
                  </a:moveTo>
                  <a:lnTo>
                    <a:pt x="22747912" y="0"/>
                  </a:lnTo>
                  <a:lnTo>
                    <a:pt x="22747912" y="5479026"/>
                  </a:lnTo>
                  <a:lnTo>
                    <a:pt x="0" y="54790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98" r="0" b="-3089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2747910" cy="547903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590"/>
                </a:lnSpc>
              </a:pPr>
              <a:r>
                <a:rPr lang="en-US" sz="7992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Configuration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15289" y="5766216"/>
            <a:ext cx="1687805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5"/>
              </a:lnSpc>
            </a:pPr>
            <a:r>
              <a:rPr lang="en-US" sz="4196">
                <a:solidFill>
                  <a:srgbClr val="ADADAD"/>
                </a:solidFill>
                <a:latin typeface="Space Mono"/>
                <a:ea typeface="Space Mono"/>
                <a:cs typeface="Space Mono"/>
                <a:sym typeface="Space Mono"/>
              </a:rPr>
              <a:t>How to make it work?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52098" y="3140884"/>
            <a:ext cx="15564679" cy="6299196"/>
          </a:xfrm>
          <a:custGeom>
            <a:avLst/>
            <a:gdLst/>
            <a:ahLst/>
            <a:cxnLst/>
            <a:rect r="r" b="b" t="t" l="l"/>
            <a:pathLst>
              <a:path h="6299196" w="15564679">
                <a:moveTo>
                  <a:pt x="0" y="0"/>
                </a:moveTo>
                <a:lnTo>
                  <a:pt x="15564678" y="0"/>
                </a:lnTo>
                <a:lnTo>
                  <a:pt x="15564678" y="6299196"/>
                </a:lnTo>
                <a:lnTo>
                  <a:pt x="0" y="6299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41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04974" y="1028700"/>
            <a:ext cx="16878052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5"/>
              </a:lnSpc>
            </a:pPr>
            <a:r>
              <a:rPr lang="en-US" sz="41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Screen crab after boot loads </a:t>
            </a:r>
            <a:r>
              <a:rPr lang="en-US" sz="4196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config </a:t>
            </a:r>
            <a:r>
              <a:rPr lang="en-US" sz="41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file from the sd card. The most important thing is to configure the wi-fi, other settings were left as they were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23849" y="1490301"/>
            <a:ext cx="17060932" cy="4109272"/>
            <a:chOff x="0" y="0"/>
            <a:chExt cx="22747910" cy="54790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747912" cy="5479026"/>
            </a:xfrm>
            <a:custGeom>
              <a:avLst/>
              <a:gdLst/>
              <a:ahLst/>
              <a:cxnLst/>
              <a:rect r="r" b="b" t="t" l="l"/>
              <a:pathLst>
                <a:path h="5479026" w="22747912">
                  <a:moveTo>
                    <a:pt x="0" y="0"/>
                  </a:moveTo>
                  <a:lnTo>
                    <a:pt x="22747912" y="0"/>
                  </a:lnTo>
                  <a:lnTo>
                    <a:pt x="22747912" y="5479026"/>
                  </a:lnTo>
                  <a:lnTo>
                    <a:pt x="0" y="54790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98" r="0" b="-3089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2747910" cy="547903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590"/>
                </a:lnSpc>
              </a:pPr>
              <a:r>
                <a:rPr lang="en-US" sz="7992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C2 Cloud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15289" y="5766216"/>
            <a:ext cx="16878052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5"/>
              </a:lnSpc>
            </a:pPr>
            <a:r>
              <a:rPr lang="en-US" sz="4196">
                <a:solidFill>
                  <a:srgbClr val="ADADAD"/>
                </a:solidFill>
                <a:latin typeface="Space Mono"/>
                <a:ea typeface="Space Mono"/>
                <a:cs typeface="Space Mono"/>
                <a:sym typeface="Space Mono"/>
              </a:rPr>
              <a:t>Dedicated management solution</a:t>
            </a:r>
          </a:p>
          <a:p>
            <a:pPr algn="ctr">
              <a:lnSpc>
                <a:spcPts val="5035"/>
              </a:lnSpc>
            </a:pPr>
            <a:r>
              <a:rPr lang="en-US" sz="4196">
                <a:solidFill>
                  <a:srgbClr val="ADADAD"/>
                </a:solidFill>
                <a:latin typeface="Space Mono"/>
                <a:ea typeface="Space Mono"/>
                <a:cs typeface="Space Mono"/>
                <a:sym typeface="Space Mono"/>
              </a:rPr>
              <a:t> for hak5 devices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406085"/>
            <a:ext cx="18309279" cy="9269072"/>
          </a:xfrm>
          <a:custGeom>
            <a:avLst/>
            <a:gdLst/>
            <a:ahLst/>
            <a:cxnLst/>
            <a:rect r="r" b="b" t="t" l="l"/>
            <a:pathLst>
              <a:path h="9269072" w="18309279">
                <a:moveTo>
                  <a:pt x="0" y="0"/>
                </a:moveTo>
                <a:lnTo>
                  <a:pt x="18309279" y="0"/>
                </a:lnTo>
                <a:lnTo>
                  <a:pt x="18309279" y="9269072"/>
                </a:lnTo>
                <a:lnTo>
                  <a:pt x="0" y="92690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04974" y="1028700"/>
            <a:ext cx="16878052" cy="382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5"/>
              </a:lnSpc>
            </a:pPr>
            <a:r>
              <a:rPr lang="en-US" sz="41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C2 Cloud interface allows:</a:t>
            </a:r>
          </a:p>
          <a:p>
            <a:pPr algn="l">
              <a:lnSpc>
                <a:spcPts val="5035"/>
              </a:lnSpc>
            </a:pPr>
            <a:r>
              <a:rPr lang="en-US" sz="41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- to configure the devices without using the sd</a:t>
            </a:r>
          </a:p>
          <a:p>
            <a:pPr algn="l">
              <a:lnSpc>
                <a:spcPts val="5035"/>
              </a:lnSpc>
            </a:pPr>
            <a:r>
              <a:rPr lang="en-US" sz="41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- to collect loot</a:t>
            </a:r>
          </a:p>
          <a:p>
            <a:pPr algn="l">
              <a:lnSpc>
                <a:spcPts val="5035"/>
              </a:lnSpc>
            </a:pPr>
            <a:r>
              <a:rPr lang="en-US" sz="41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- to remotely access target computer</a:t>
            </a:r>
          </a:p>
          <a:p>
            <a:pPr algn="l">
              <a:lnSpc>
                <a:spcPts val="5035"/>
              </a:lnSpc>
            </a:pPr>
            <a:r>
              <a:rPr lang="en-US" sz="41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- to read logs</a:t>
            </a:r>
          </a:p>
          <a:p>
            <a:pPr algn="l">
              <a:lnSpc>
                <a:spcPts val="5035"/>
              </a:lnSpc>
            </a:pPr>
            <a:r>
              <a:rPr lang="en-US" sz="41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- to see statistics eg. uptime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4974" y="5143500"/>
            <a:ext cx="16878052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5"/>
              </a:lnSpc>
            </a:pPr>
            <a:r>
              <a:rPr lang="en-US" sz="41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To add a device the </a:t>
            </a:r>
            <a:r>
              <a:rPr lang="en-US" sz="4196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device.config</a:t>
            </a:r>
            <a:r>
              <a:rPr lang="en-US" sz="41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file is placed in the root directory of the device. This file is generated from the dashboard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4974" y="7343775"/>
            <a:ext cx="16878052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5"/>
              </a:lnSpc>
            </a:pPr>
            <a:r>
              <a:rPr lang="en-US" sz="41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C2 cloud is meant to be self-hosted on a public server which the Hak5 device can access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23849" y="1490301"/>
            <a:ext cx="17060932" cy="4109272"/>
            <a:chOff x="0" y="0"/>
            <a:chExt cx="22747910" cy="54790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747912" cy="5479026"/>
            </a:xfrm>
            <a:custGeom>
              <a:avLst/>
              <a:gdLst/>
              <a:ahLst/>
              <a:cxnLst/>
              <a:rect r="r" b="b" t="t" l="l"/>
              <a:pathLst>
                <a:path h="5479026" w="22747912">
                  <a:moveTo>
                    <a:pt x="0" y="0"/>
                  </a:moveTo>
                  <a:lnTo>
                    <a:pt x="22747912" y="0"/>
                  </a:lnTo>
                  <a:lnTo>
                    <a:pt x="22747912" y="5479026"/>
                  </a:lnTo>
                  <a:lnTo>
                    <a:pt x="0" y="54790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98" r="0" b="-3089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2747910" cy="547903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590"/>
                </a:lnSpc>
              </a:pPr>
              <a:r>
                <a:rPr lang="en-US" sz="7992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The script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15289" y="5766216"/>
            <a:ext cx="1687805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5"/>
              </a:lnSpc>
            </a:pPr>
            <a:r>
              <a:rPr lang="en-US" sz="4196">
                <a:solidFill>
                  <a:srgbClr val="ADADAD"/>
                </a:solidFill>
                <a:latin typeface="Space Mono"/>
                <a:ea typeface="Space Mono"/>
                <a:cs typeface="Space Mono"/>
                <a:sym typeface="Space Mono"/>
              </a:rPr>
              <a:t>Student id grabber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04974" y="1028700"/>
            <a:ext cx="16878052" cy="829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5"/>
              </a:lnSpc>
            </a:pPr>
            <a:r>
              <a:rPr lang="en-US" sz="41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The script is written in python and uses api of C2 Cloud to fetch and process images</a:t>
            </a:r>
          </a:p>
          <a:p>
            <a:pPr algn="l">
              <a:lnSpc>
                <a:spcPts val="5035"/>
              </a:lnSpc>
            </a:pPr>
          </a:p>
          <a:p>
            <a:pPr algn="l">
              <a:lnSpc>
                <a:spcPts val="5035"/>
              </a:lnSpc>
            </a:pPr>
            <a:r>
              <a:rPr lang="en-US" sz="41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The main feature of the script is stealthily saving screenshots of student ids on pg login website.</a:t>
            </a:r>
          </a:p>
          <a:p>
            <a:pPr algn="l">
              <a:lnSpc>
                <a:spcPts val="5035"/>
              </a:lnSpc>
            </a:pPr>
          </a:p>
          <a:p>
            <a:pPr algn="l">
              <a:lnSpc>
                <a:spcPts val="5035"/>
              </a:lnSpc>
            </a:pPr>
            <a:r>
              <a:rPr lang="en-US" sz="41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Images are taken by default every 10s, the script downloads latest one and uses opencv to detect logo of PG to detect if the user is on the login website. </a:t>
            </a:r>
          </a:p>
          <a:p>
            <a:pPr algn="l">
              <a:lnSpc>
                <a:spcPts val="5035"/>
              </a:lnSpc>
            </a:pPr>
          </a:p>
          <a:p>
            <a:pPr algn="l">
              <a:lnSpc>
                <a:spcPts val="5035"/>
              </a:lnSpc>
            </a:pPr>
            <a:r>
              <a:rPr lang="en-US" sz="41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It is very easy to modify the search image</a:t>
            </a:r>
          </a:p>
          <a:p>
            <a:pPr algn="l">
              <a:lnSpc>
                <a:spcPts val="5035"/>
              </a:lnSpc>
            </a:pPr>
            <a:r>
              <a:rPr lang="en-US" sz="41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15289" y="1581741"/>
            <a:ext cx="16878052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5"/>
              </a:lnSpc>
            </a:pPr>
            <a:r>
              <a:rPr lang="en-US" sz="41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First we need to connect the device to the target computer. Video output from PC goes to Screen Crab and output of screen crab goes to the monitor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740389" y="4546195"/>
            <a:ext cx="2979301" cy="2979301"/>
          </a:xfrm>
          <a:custGeom>
            <a:avLst/>
            <a:gdLst/>
            <a:ahLst/>
            <a:cxnLst/>
            <a:rect r="r" b="b" t="t" l="l"/>
            <a:pathLst>
              <a:path h="2979301" w="2979301">
                <a:moveTo>
                  <a:pt x="0" y="0"/>
                </a:moveTo>
                <a:lnTo>
                  <a:pt x="2979301" y="0"/>
                </a:lnTo>
                <a:lnTo>
                  <a:pt x="2979301" y="2979301"/>
                </a:lnTo>
                <a:lnTo>
                  <a:pt x="0" y="2979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973662" y="4383248"/>
            <a:ext cx="2619716" cy="2272009"/>
          </a:xfrm>
          <a:custGeom>
            <a:avLst/>
            <a:gdLst/>
            <a:ahLst/>
            <a:cxnLst/>
            <a:rect r="r" b="b" t="t" l="l"/>
            <a:pathLst>
              <a:path h="2272009" w="2619716">
                <a:moveTo>
                  <a:pt x="0" y="0"/>
                </a:moveTo>
                <a:lnTo>
                  <a:pt x="2619717" y="0"/>
                </a:lnTo>
                <a:lnTo>
                  <a:pt x="2619717" y="2272009"/>
                </a:lnTo>
                <a:lnTo>
                  <a:pt x="0" y="2272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51776" y="4546195"/>
            <a:ext cx="3129585" cy="2116382"/>
          </a:xfrm>
          <a:custGeom>
            <a:avLst/>
            <a:gdLst/>
            <a:ahLst/>
            <a:cxnLst/>
            <a:rect r="r" b="b" t="t" l="l"/>
            <a:pathLst>
              <a:path h="2116382" w="3129585">
                <a:moveTo>
                  <a:pt x="0" y="0"/>
                </a:moveTo>
                <a:lnTo>
                  <a:pt x="3129586" y="0"/>
                </a:lnTo>
                <a:lnTo>
                  <a:pt x="3129586" y="2116382"/>
                </a:lnTo>
                <a:lnTo>
                  <a:pt x="0" y="21163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374156">
            <a:off x="5347338" y="5267444"/>
            <a:ext cx="1964084" cy="2064740"/>
          </a:xfrm>
          <a:custGeom>
            <a:avLst/>
            <a:gdLst/>
            <a:ahLst/>
            <a:cxnLst/>
            <a:rect r="r" b="b" t="t" l="l"/>
            <a:pathLst>
              <a:path h="2064740" w="1964084">
                <a:moveTo>
                  <a:pt x="0" y="0"/>
                </a:moveTo>
                <a:lnTo>
                  <a:pt x="1964084" y="0"/>
                </a:lnTo>
                <a:lnTo>
                  <a:pt x="1964084" y="2064741"/>
                </a:lnTo>
                <a:lnTo>
                  <a:pt x="0" y="20647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374156">
            <a:off x="11331099" y="5067203"/>
            <a:ext cx="1964084" cy="2064740"/>
          </a:xfrm>
          <a:custGeom>
            <a:avLst/>
            <a:gdLst/>
            <a:ahLst/>
            <a:cxnLst/>
            <a:rect r="r" b="b" t="t" l="l"/>
            <a:pathLst>
              <a:path h="2064740" w="1964084">
                <a:moveTo>
                  <a:pt x="0" y="0"/>
                </a:moveTo>
                <a:lnTo>
                  <a:pt x="1964084" y="0"/>
                </a:lnTo>
                <a:lnTo>
                  <a:pt x="1964084" y="2064741"/>
                </a:lnTo>
                <a:lnTo>
                  <a:pt x="0" y="20647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>
            <a:off x="4914737" y="4261305"/>
            <a:ext cx="8655032" cy="1343082"/>
          </a:xfrm>
          <a:custGeom>
            <a:avLst/>
            <a:gdLst/>
            <a:ahLst/>
            <a:cxnLst/>
            <a:rect r="r" b="b" t="t" l="l"/>
            <a:pathLst>
              <a:path h="1343082" w="8655032">
                <a:moveTo>
                  <a:pt x="0" y="1343081"/>
                </a:moveTo>
                <a:quadBezTo>
                  <a:pt x="4049506" y="-1126294"/>
                  <a:pt x="8655032" y="944497"/>
                </a:quadBezTo>
              </a:path>
            </a:pathLst>
          </a:cu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3" id="13"/>
          <p:cNvSpPr txBox="true"/>
          <p:nvPr/>
        </p:nvSpPr>
        <p:spPr>
          <a:xfrm rot="0">
            <a:off x="7203011" y="4536670"/>
            <a:ext cx="4054056" cy="50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1"/>
              </a:lnSpc>
              <a:spcBef>
                <a:spcPct val="0"/>
              </a:spcBef>
            </a:pPr>
            <a:r>
              <a:rPr lang="en-US" sz="325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What the PC sees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43208" y="6805494"/>
            <a:ext cx="1773663" cy="50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1"/>
              </a:lnSpc>
              <a:spcBef>
                <a:spcPct val="0"/>
              </a:spcBef>
            </a:pPr>
            <a:r>
              <a:rPr lang="en-US" sz="325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Reality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56392" y="4868910"/>
            <a:ext cx="3547295" cy="50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1"/>
              </a:lnSpc>
              <a:spcBef>
                <a:spcPct val="0"/>
              </a:spcBef>
            </a:pPr>
            <a:r>
              <a:rPr lang="en-US" sz="3259">
                <a:solidFill>
                  <a:srgbClr val="ADADAD"/>
                </a:solidFill>
                <a:latin typeface="Space Mono"/>
                <a:ea typeface="Space Mono"/>
                <a:cs typeface="Space Mono"/>
                <a:sym typeface="Space Mono"/>
              </a:rPr>
              <a:t>Normal monitor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63153" y="7170038"/>
            <a:ext cx="2533773" cy="50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1"/>
              </a:lnSpc>
              <a:spcBef>
                <a:spcPct val="0"/>
              </a:spcBef>
            </a:pPr>
            <a:r>
              <a:rPr lang="en-US" sz="3259">
                <a:solidFill>
                  <a:srgbClr val="ADADAD"/>
                </a:solidFill>
                <a:latin typeface="Space Mono"/>
                <a:ea typeface="Space Mono"/>
                <a:cs typeface="Space Mono"/>
                <a:sym typeface="Space Mono"/>
              </a:rPr>
              <a:t>Evil proxy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821974"/>
            <a:ext cx="16022396" cy="8171422"/>
          </a:xfrm>
          <a:custGeom>
            <a:avLst/>
            <a:gdLst/>
            <a:ahLst/>
            <a:cxnLst/>
            <a:rect r="r" b="b" t="t" l="l"/>
            <a:pathLst>
              <a:path h="8171422" w="16022396">
                <a:moveTo>
                  <a:pt x="0" y="0"/>
                </a:moveTo>
                <a:lnTo>
                  <a:pt x="16022396" y="0"/>
                </a:lnTo>
                <a:lnTo>
                  <a:pt x="16022396" y="8171422"/>
                </a:lnTo>
                <a:lnTo>
                  <a:pt x="0" y="81714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15289" y="3565641"/>
            <a:ext cx="8877863" cy="5466594"/>
          </a:xfrm>
          <a:custGeom>
            <a:avLst/>
            <a:gdLst/>
            <a:ahLst/>
            <a:cxnLst/>
            <a:rect r="r" b="b" t="t" l="l"/>
            <a:pathLst>
              <a:path h="5466594" w="8877863">
                <a:moveTo>
                  <a:pt x="0" y="0"/>
                </a:moveTo>
                <a:lnTo>
                  <a:pt x="8877863" y="0"/>
                </a:lnTo>
                <a:lnTo>
                  <a:pt x="8877863" y="5466594"/>
                </a:lnTo>
                <a:lnTo>
                  <a:pt x="0" y="54665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10691" y="3565641"/>
            <a:ext cx="8240638" cy="5016489"/>
          </a:xfrm>
          <a:custGeom>
            <a:avLst/>
            <a:gdLst/>
            <a:ahLst/>
            <a:cxnLst/>
            <a:rect r="r" b="b" t="t" l="l"/>
            <a:pathLst>
              <a:path h="5016489" w="8240638">
                <a:moveTo>
                  <a:pt x="0" y="0"/>
                </a:moveTo>
                <a:lnTo>
                  <a:pt x="8240638" y="0"/>
                </a:lnTo>
                <a:lnTo>
                  <a:pt x="8240638" y="5016489"/>
                </a:lnTo>
                <a:lnTo>
                  <a:pt x="0" y="50164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15289" y="1581741"/>
            <a:ext cx="16878052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5"/>
              </a:lnSpc>
            </a:pPr>
            <a:r>
              <a:rPr lang="en-US" sz="41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Once PG logo was detected in the image the script saved that image to disk for further analisis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93379" y="8582130"/>
            <a:ext cx="1715900" cy="1715900"/>
            <a:chOff x="0" y="0"/>
            <a:chExt cx="2287867" cy="22878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7905" cy="2287905"/>
            </a:xfrm>
            <a:custGeom>
              <a:avLst/>
              <a:gdLst/>
              <a:ahLst/>
              <a:cxnLst/>
              <a:rect r="r" b="b" t="t" l="l"/>
              <a:pathLst>
                <a:path h="2287905" w="2287905">
                  <a:moveTo>
                    <a:pt x="0" y="0"/>
                  </a:moveTo>
                  <a:lnTo>
                    <a:pt x="2287905" y="0"/>
                  </a:lnTo>
                  <a:lnTo>
                    <a:pt x="2287905" y="2287905"/>
                  </a:lnTo>
                  <a:lnTo>
                    <a:pt x="0" y="228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23849" y="1490301"/>
            <a:ext cx="17060932" cy="4109272"/>
            <a:chOff x="0" y="0"/>
            <a:chExt cx="22747910" cy="54790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747912" cy="5479026"/>
            </a:xfrm>
            <a:custGeom>
              <a:avLst/>
              <a:gdLst/>
              <a:ahLst/>
              <a:cxnLst/>
              <a:rect r="r" b="b" t="t" l="l"/>
              <a:pathLst>
                <a:path h="5479026" w="22747912">
                  <a:moveTo>
                    <a:pt x="0" y="0"/>
                  </a:moveTo>
                  <a:lnTo>
                    <a:pt x="22747912" y="0"/>
                  </a:lnTo>
                  <a:lnTo>
                    <a:pt x="22747912" y="5479026"/>
                  </a:lnTo>
                  <a:lnTo>
                    <a:pt x="0" y="54790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98" r="0" b="-3089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2747910" cy="547903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590"/>
                </a:lnSpc>
              </a:pPr>
              <a:r>
                <a:rPr lang="en-US" sz="7992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THE END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15289" y="6053121"/>
            <a:ext cx="1687805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5"/>
              </a:lnSpc>
            </a:pPr>
            <a:r>
              <a:rPr lang="en-US" sz="4196">
                <a:solidFill>
                  <a:srgbClr val="ADADAD"/>
                </a:solidFill>
                <a:latin typeface="Space Mono"/>
                <a:ea typeface="Space Mono"/>
                <a:cs typeface="Space Mono"/>
                <a:sym typeface="Space Mono"/>
              </a:rPr>
              <a:t>Screen Crab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5289" y="6691296"/>
            <a:ext cx="1687805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5"/>
              </a:lnSpc>
            </a:pPr>
            <a:r>
              <a:rPr lang="en-US" sz="4196">
                <a:solidFill>
                  <a:srgbClr val="ADADAD"/>
                </a:solidFill>
                <a:latin typeface="Space Mono"/>
                <a:ea typeface="Space Mono"/>
                <a:cs typeface="Space Mono"/>
                <a:sym typeface="Space Mono"/>
              </a:rPr>
              <a:t>Presented by Miłosz Obrębski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3933346" y="-2663826"/>
            <a:ext cx="14134614" cy="9993297"/>
            <a:chOff x="0" y="0"/>
            <a:chExt cx="18846152" cy="133243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846164" cy="13324460"/>
            </a:xfrm>
            <a:custGeom>
              <a:avLst/>
              <a:gdLst/>
              <a:ahLst/>
              <a:cxnLst/>
              <a:rect r="r" b="b" t="t" l="l"/>
              <a:pathLst>
                <a:path h="13324460" w="18846164">
                  <a:moveTo>
                    <a:pt x="0" y="0"/>
                  </a:moveTo>
                  <a:lnTo>
                    <a:pt x="18846164" y="0"/>
                  </a:lnTo>
                  <a:lnTo>
                    <a:pt x="18846164" y="13324460"/>
                  </a:lnTo>
                  <a:lnTo>
                    <a:pt x="0" y="13324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" r="0" b="-1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DAHJpdpInDc</dc:identifier>
  <dcterms:modified xsi:type="dcterms:W3CDTF">2011-08-01T06:04:30Z</dcterms:modified>
  <cp:revision>1</cp:revision>
  <dc:title>prezentation.odp</dc:title>
</cp:coreProperties>
</file>